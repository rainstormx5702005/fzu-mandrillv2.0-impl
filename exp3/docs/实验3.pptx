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9" r:id="rId4"/>
    <p:sldId id="258" r:id="rId5"/>
    <p:sldId id="267" r:id="rId6"/>
    <p:sldId id="260" r:id="rId7"/>
    <p:sldId id="261" r:id="rId8"/>
    <p:sldId id="262" r:id="rId9"/>
    <p:sldId id="263" r:id="rId10"/>
    <p:sldId id="264" r:id="rId11"/>
    <p:sldId id="269" r:id="rId12"/>
    <p:sldId id="270" r:id="rId13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7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4.png"/><Relationship Id="rId3" Type="http://schemas.openxmlformats.org/officeDocument/2006/relationships/tags" Target="../tags/tag4.xml"/><Relationship Id="rId2" Type="http://schemas.openxmlformats.org/officeDocument/2006/relationships/image" Target="../media/image3.png"/><Relationship Id="rId1" Type="http://schemas.openxmlformats.org/officeDocument/2006/relationships/tags" Target="../tags/tag3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6.png"/><Relationship Id="rId3" Type="http://schemas.openxmlformats.org/officeDocument/2006/relationships/tags" Target="../tags/tag6.xml"/><Relationship Id="rId2" Type="http://schemas.openxmlformats.org/officeDocument/2006/relationships/image" Target="../media/image5.png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95275" y="63500"/>
            <a:ext cx="10657205" cy="50584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marR="0" indent="-457200" defTabSz="914400">
              <a:lnSpc>
                <a:spcPct val="90000"/>
              </a:lnSpc>
              <a:spcBef>
                <a:spcPct val="45000"/>
              </a:spcBef>
              <a:buClrTx/>
              <a:buSzTx/>
              <a:defRPr/>
            </a:pPr>
            <a:r>
              <a:rPr lang="zh-CN" altLang="en-US" sz="3200" b="1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实验三：语义分析实验</a:t>
            </a:r>
            <a:endParaRPr kumimoji="0" lang="zh-CN" altLang="en-US" sz="3200" b="1" kern="1200" cap="none" spc="0" normalizeH="0" baseline="0" noProof="0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marR="0" indent="-457200" algn="just" defTabSz="914400" fontAlgn="auto">
              <a:lnSpc>
                <a:spcPct val="150000"/>
              </a:lnSpc>
              <a:spcBef>
                <a:spcPts val="0"/>
              </a:spcBef>
              <a:buClrTx/>
              <a:buSzTx/>
              <a:defRPr/>
            </a:pPr>
            <a:r>
              <a:rPr lang="zh-CN" altLang="en-US" sz="2800" b="1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一、实验目的</a:t>
            </a:r>
            <a:endParaRPr kumimoji="0" lang="zh-CN" altLang="en-US" sz="2800" b="1" kern="1200" cap="none" spc="0" normalizeH="0" baseline="0" noProof="0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marR="0" indent="-457200" defTabSz="914400" fontAlgn="auto">
              <a:lnSpc>
                <a:spcPct val="150000"/>
              </a:lnSpc>
              <a:spcBef>
                <a:spcPts val="0"/>
              </a:spcBef>
              <a:buClrTx/>
              <a:buSzTx/>
              <a:defRPr/>
            </a:pPr>
            <a:r>
              <a:rPr lang="zh-CN" altLang="en-US" sz="2800" b="1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</a:t>
            </a:r>
            <a:r>
              <a:rPr lang="zh-CN" sz="2800" b="1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结合语法分析过程</a:t>
            </a:r>
            <a:r>
              <a:rPr lang="zh-CN" altLang="en-US" sz="2800" b="1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，分析输入程序的语义，加深对</a:t>
            </a:r>
            <a:r>
              <a:rPr lang="zh-CN" sz="2800" b="1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语义</a:t>
            </a:r>
            <a:r>
              <a:rPr lang="zh-CN" altLang="en-US" sz="2800" b="1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分析的理解。</a:t>
            </a:r>
            <a:endParaRPr kumimoji="0" lang="zh-CN" altLang="en-US" sz="2800" b="1" kern="1200" cap="none" spc="0" normalizeH="0" baseline="0" noProof="0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marR="0" indent="-457200" algn="just" defTabSz="914400" fontAlgn="auto">
              <a:lnSpc>
                <a:spcPct val="150000"/>
              </a:lnSpc>
              <a:spcBef>
                <a:spcPts val="0"/>
              </a:spcBef>
              <a:buClrTx/>
              <a:buSzTx/>
              <a:defRPr/>
            </a:pPr>
            <a:r>
              <a:rPr lang="zh-CN" altLang="en-US" sz="2800" b="1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二、实验内容</a:t>
            </a:r>
            <a:endParaRPr kumimoji="0" lang="zh-CN" altLang="en-US" sz="2800" b="1" kern="1200" cap="none" spc="0" normalizeH="0" baseline="0" noProof="0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marR="0" indent="-457200" defTabSz="914400" fontAlgn="auto">
              <a:lnSpc>
                <a:spcPct val="150000"/>
              </a:lnSpc>
              <a:spcBef>
                <a:spcPts val="0"/>
              </a:spcBef>
              <a:buClrTx/>
              <a:buSzTx/>
              <a:defRPr/>
            </a:pPr>
            <a:r>
              <a:rPr lang="zh-CN" altLang="en-US" sz="2800" b="1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 （</a:t>
            </a:r>
            <a:r>
              <a:rPr lang="en-US" altLang="zh-CN" sz="2800" b="1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2800" b="1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）描述类型推断和类型检查过程；</a:t>
            </a:r>
            <a:endParaRPr lang="zh-CN" altLang="en-US" sz="2800" b="1" noProof="0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marL="457200" marR="0" indent="-457200" defTabSz="914400" fontAlgn="auto">
              <a:lnSpc>
                <a:spcPct val="150000"/>
              </a:lnSpc>
              <a:spcBef>
                <a:spcPts val="0"/>
              </a:spcBef>
              <a:buClrTx/>
              <a:buSzTx/>
              <a:defRPr/>
            </a:pPr>
            <a:r>
              <a:rPr lang="zh-CN" altLang="en-US" sz="2800" b="1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2800" b="1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 sz="2800" b="1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（</a:t>
            </a:r>
            <a:r>
              <a:rPr lang="en-US" altLang="zh-CN" sz="2800" b="1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2</a:t>
            </a:r>
            <a:r>
              <a:rPr lang="zh-CN" altLang="en-US" sz="2800" b="1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）编制语义分析程序；</a:t>
            </a:r>
            <a:r>
              <a:rPr lang="zh-CN" altLang="en-US" sz="28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如果输入的源代码没有类型方面的语义错误，输出P</a:t>
            </a:r>
            <a:r>
              <a:rPr lang="en-US" altLang="zh-CN" sz="28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ASS</a:t>
            </a:r>
            <a:r>
              <a:rPr lang="zh-CN" altLang="en-US" sz="28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，否则输出</a:t>
            </a:r>
            <a:r>
              <a:rPr lang="en-US" altLang="zh-CN" sz="28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ERROR</a:t>
            </a:r>
            <a:r>
              <a:rPr lang="zh-CN" altLang="en-US" sz="28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。 </a:t>
            </a:r>
            <a:endParaRPr lang="zh-CN" altLang="en-US" sz="28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09220"/>
            <a:ext cx="10515600" cy="1325563"/>
          </a:xfrm>
        </p:spPr>
        <p:txBody>
          <a:bodyPr/>
          <a:p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类型</a:t>
            </a:r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635" y="1296670"/>
            <a:ext cx="11777980" cy="5560695"/>
          </a:xfrm>
        </p:spPr>
        <p:txBody>
          <a:bodyPr>
            <a:normAutofit/>
          </a:bodyPr>
          <a:p>
            <a:pPr marL="0" indent="0" fontAlgn="auto">
              <a:lnSpc>
                <a:spcPct val="100000"/>
              </a:lnSpc>
              <a:buNone/>
            </a:pPr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（</a:t>
            </a:r>
            <a:r>
              <a:rPr lang="en-US" altLang="zh-C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</a:t>
            </a:r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）数据类型：有 32 位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整型</a:t>
            </a:r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（数值）与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数组</a:t>
            </a:r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（本质为指针）</a:t>
            </a:r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 fontAlgn="auto">
              <a:lnSpc>
                <a:spcPct val="100000"/>
              </a:lnSpc>
              <a:buNone/>
            </a:pP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r>
              <a:rPr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      </a:t>
            </a: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只支持一维数组，不判断越界</a:t>
            </a:r>
            <a:endParaRPr lang="zh-CN" altLang="en-US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 fontAlgn="auto">
              <a:lnSpc>
                <a:spcPct val="100000"/>
              </a:lnSpc>
              <a:buNone/>
            </a:pPr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（</a:t>
            </a:r>
            <a:r>
              <a:rPr lang="en-US" altLang="zh-C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</a:t>
            </a:r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）类型推断：变量类型由其在源文件中首次出现的形式决定（例如 a = 0 推断为整数，a[] = 10 推断为数组）。</a:t>
            </a:r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 fontAlgn="auto">
              <a:lnSpc>
                <a:spcPct val="100000"/>
              </a:lnSpc>
              <a:buNone/>
            </a:pP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r>
              <a:rPr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  a) 数组声明：a[] = 10;  // 表示申请 10 个单位（每个 4 字节）的堆空间。</a:t>
            </a:r>
            <a:endParaRPr lang="en-US" altLang="zh-CN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 fontAlgn="auto">
              <a:lnSpc>
                <a:spcPct val="100000"/>
              </a:lnSpc>
              <a:buNone/>
            </a:pPr>
            <a:r>
              <a:rPr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   b)</a:t>
            </a: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字符串赋值：s[] = "Hello"; </a:t>
            </a:r>
            <a:r>
              <a:rPr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//</a:t>
            </a: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自动根据字符串长度申请空间并初始化。</a:t>
            </a:r>
            <a:endParaRPr lang="zh-CN" altLang="en-US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 fontAlgn="auto">
              <a:lnSpc>
                <a:spcPct val="100000"/>
              </a:lnSpc>
              <a:buNone/>
            </a:pPr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（</a:t>
            </a:r>
            <a:r>
              <a:rPr lang="en-US" altLang="zh-C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3</a:t>
            </a:r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）作用域：引入 local 与 global 关键字，支持基于 {} 的局部变量管理</a:t>
            </a:r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 fontAlgn="auto">
              <a:lnSpc>
                <a:spcPct val="100000"/>
              </a:lnSpc>
              <a:buNone/>
            </a:pPr>
            <a:r>
              <a:rPr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   a)全局变量：在函数外定义，或使用 global显式声明。</a:t>
            </a:r>
            <a:r>
              <a:rPr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未经声明且直接使用的变量默认为全局</a:t>
            </a:r>
            <a:r>
              <a:rPr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。</a:t>
            </a:r>
            <a:endParaRPr lang="en-US" altLang="zh-CN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 fontAlgn="auto">
              <a:lnSpc>
                <a:spcPct val="100000"/>
              </a:lnSpc>
              <a:buNone/>
            </a:pPr>
            <a:r>
              <a:rPr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   b)局部变量：在函数内通过local声明。可见域从声明处开始，到所属的代码块 `{}` 结束。</a:t>
            </a:r>
            <a:endParaRPr lang="en-US" altLang="zh-CN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9450" y="127000"/>
            <a:ext cx="10515600" cy="1325563"/>
          </a:xfrm>
        </p:spPr>
        <p:txBody>
          <a:bodyPr/>
          <a:p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类型推断</a:t>
            </a:r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32105" y="1369060"/>
            <a:ext cx="11424285" cy="52508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4375" y="55880"/>
            <a:ext cx="10515600" cy="1325563"/>
          </a:xfrm>
        </p:spPr>
        <p:txBody>
          <a:bodyPr/>
          <a:p>
            <a:r>
              <a:rPr lang="zh-C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输入和输出</a:t>
            </a:r>
            <a:endParaRPr lang="zh-CN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5" y="1017905"/>
            <a:ext cx="12192000" cy="5840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（</a:t>
            </a:r>
            <a:r>
              <a:rPr lang="en-US" altLang="zh-CN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lang="zh-CN" alt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）</a:t>
            </a:r>
            <a:r>
              <a:rPr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write：</a:t>
            </a:r>
            <a:endParaRPr sz="2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    </a:t>
            </a:r>
            <a:r>
              <a:rPr 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     a) </a:t>
            </a:r>
            <a:r>
              <a: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write = 整数;</a:t>
            </a:r>
            <a:r>
              <a:rPr 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     </a:t>
            </a:r>
            <a:r>
              <a: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以十进制格式输出数值。</a:t>
            </a:r>
            <a:endParaRPr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        b) </a:t>
            </a:r>
            <a:r>
              <a: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write = 数组;</a:t>
            </a:r>
            <a:r>
              <a:rPr 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将数组内容作为 UTF-32 字符串输出（考虑到多数终端与文件编码为UTF-8，故这里需要进行一个编码转换）。</a:t>
            </a:r>
            <a:endParaRPr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(2)  </a:t>
            </a:r>
            <a:r>
              <a:rPr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read</a:t>
            </a:r>
            <a:r>
              <a:rPr 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（始终触发动态内存申请）：</a:t>
            </a:r>
            <a:endParaRPr sz="2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    </a:t>
            </a:r>
            <a:r>
              <a:rPr 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    a)</a:t>
            </a:r>
            <a:r>
              <a: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首次出现：a[] = read;</a:t>
            </a:r>
            <a:r>
              <a:rPr 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声明a为数组并读入字符串。</a:t>
            </a:r>
            <a:endParaRPr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    </a:t>
            </a:r>
            <a:r>
              <a:rPr 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    b)</a:t>
            </a:r>
            <a:r>
              <a: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覆盖赋值：a = read;</a:t>
            </a:r>
            <a:r>
              <a:rPr 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如果a是数组则释放a原有的空间，申请新空间存入新字符串。否则从stdin读入一个整数。</a:t>
            </a:r>
            <a:endParaRPr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(3)  </a:t>
            </a:r>
            <a:r>
              <a:rPr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get / put：读取或输出单个字符，读入需从UTF-8转换为UTF-32，输出则需要把UTF-32转换为UTF-8。</a:t>
            </a:r>
            <a:endParaRPr sz="2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测试用例</a:t>
            </a:r>
            <a:r>
              <a:rPr lang="en-US" altLang="zh-C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分析</a:t>
            </a:r>
            <a:r>
              <a:rPr lang="en-US" altLang="zh-C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(ERROR)</a:t>
            </a:r>
            <a:endParaRPr lang="en-US" altLang="zh-CN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91870" y="1852930"/>
            <a:ext cx="11003915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a[] = "test";</a:t>
            </a:r>
            <a:r>
              <a:rPr lang="en-US" altLang="zh-CN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           //</a:t>
            </a:r>
            <a:endParaRPr lang="zh-CN" altLang="en-US" sz="2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lang="zh-CN" alt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 = 5;</a:t>
            </a:r>
            <a:r>
              <a:rPr lang="en-US" altLang="zh-CN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                      //   </a:t>
            </a:r>
            <a:r>
              <a:rPr lang="en-US" altLang="zh-CN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对数组变量赋整型值</a:t>
            </a:r>
            <a:endParaRPr lang="en-US" altLang="zh-CN" sz="2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139565" y="2092325"/>
            <a:ext cx="54483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测试用例</a:t>
            </a:r>
            <a:r>
              <a:rPr lang="en-US" altLang="zh-C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分析</a:t>
            </a:r>
            <a:r>
              <a:rPr lang="en-US" altLang="zh-C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(ERROR)</a:t>
            </a:r>
            <a:endParaRPr lang="en-US" altLang="zh-CN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91870" y="1852930"/>
            <a:ext cx="11003915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a[] = "test";</a:t>
            </a:r>
            <a:endParaRPr sz="2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a = get;</a:t>
            </a:r>
            <a:r>
              <a:rPr 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                      //  对数组型变量直接执行 get、put 操作</a:t>
            </a:r>
            <a:endParaRPr lang="en-US" sz="2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put = a;</a:t>
            </a:r>
            <a:r>
              <a:rPr lang="en-US" altLang="zh-CN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                      //  </a:t>
            </a:r>
            <a:r>
              <a:rPr 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对数组型变量直接执行 get、put 操作</a:t>
            </a:r>
            <a:endParaRPr lang="en-US" altLang="zh-CN" sz="2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测试用例</a:t>
            </a:r>
            <a:r>
              <a:rPr lang="en-US" altLang="zh-C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分析</a:t>
            </a:r>
            <a:r>
              <a:rPr lang="en-US" altLang="zh-C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(ERROR)</a:t>
            </a:r>
            <a:endParaRPr lang="en-US" altLang="zh-CN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91870" y="1852930"/>
            <a:ext cx="11003915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func[] foo(a[]) {</a:t>
            </a:r>
            <a:endParaRPr sz="2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    return a;</a:t>
            </a:r>
            <a:endParaRPr sz="2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}</a:t>
            </a:r>
            <a:endParaRPr sz="2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endParaRPr sz="2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b = 10;</a:t>
            </a:r>
            <a:endParaRPr sz="2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ignore = foo(</a:t>
            </a:r>
            <a:r>
              <a:rPr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b</a:t>
            </a:r>
            <a:r>
              <a:rPr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);</a:t>
            </a:r>
            <a:r>
              <a:rPr lang="en-US" altLang="zh-CN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                    //  </a:t>
            </a:r>
            <a:r>
              <a:rPr 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把整型变量赋给数组型参数</a:t>
            </a:r>
            <a:endParaRPr lang="en-US" sz="2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测试用例</a:t>
            </a:r>
            <a:r>
              <a:rPr lang="en-US" altLang="zh-C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分析</a:t>
            </a:r>
            <a:r>
              <a:rPr lang="en-US" altLang="zh-C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(ERROR)</a:t>
            </a:r>
            <a:endParaRPr lang="en-US" altLang="zh-CN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83615" y="1535430"/>
            <a:ext cx="11003915" cy="46158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func sum(a, b) {</a:t>
            </a:r>
            <a:endParaRPr sz="2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    return a + b;</a:t>
            </a:r>
            <a:endParaRPr sz="2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}</a:t>
            </a:r>
            <a:endParaRPr sz="2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endParaRPr sz="2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x[] = "hello";</a:t>
            </a:r>
            <a:endParaRPr sz="2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write = sum(x, 50);</a:t>
            </a:r>
            <a:r>
              <a:rPr 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       </a:t>
            </a:r>
            <a:r>
              <a:rPr lang="en-US" altLang="zh-CN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//  </a:t>
            </a:r>
            <a:r>
              <a:rPr 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把整型变量赋给数组型参数</a:t>
            </a:r>
            <a:endParaRPr sz="2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put = '\n';</a:t>
            </a:r>
            <a:r>
              <a:rPr lang="en-US" altLang="zh-CN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                   </a:t>
            </a:r>
            <a:endParaRPr lang="en-US" sz="2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测试用例</a:t>
            </a:r>
            <a:r>
              <a:rPr lang="en-US" altLang="zh-C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分析</a:t>
            </a:r>
            <a:r>
              <a:rPr lang="en-US" altLang="zh-C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(PASS)</a:t>
            </a:r>
            <a:endParaRPr lang="en-US" altLang="zh-CN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91870" y="1852930"/>
            <a:ext cx="11003915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write = read + read;</a:t>
            </a:r>
            <a:endParaRPr sz="2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put = '\n';</a:t>
            </a:r>
            <a:endParaRPr sz="2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3" name="文本框 5122"/>
          <p:cNvSpPr txBox="1"/>
          <p:nvPr/>
        </p:nvSpPr>
        <p:spPr>
          <a:xfrm>
            <a:off x="303530" y="631190"/>
            <a:ext cx="11574780" cy="5725795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>
            <a:noAutofit/>
          </a:bodyPr>
          <a:p>
            <a:pPr marL="457200" marR="0" indent="-457200" algn="just" defTabSz="914400">
              <a:lnSpc>
                <a:spcPct val="90000"/>
              </a:lnSpc>
              <a:spcBef>
                <a:spcPct val="45000"/>
              </a:spcBef>
              <a:buClrTx/>
              <a:buSzTx/>
              <a:defRPr/>
            </a:pPr>
            <a:r>
              <a:rPr lang="zh-CN" altLang="en-US" sz="4000" b="1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文法（</a:t>
            </a:r>
            <a:r>
              <a:rPr lang="en-US" altLang="zh-CN" sz="4000" b="1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2</a:t>
            </a:r>
            <a:r>
              <a:rPr lang="zh-CN" altLang="en-US" sz="4000" b="1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）</a:t>
            </a:r>
            <a:endParaRPr lang="zh-CN" altLang="en-US" sz="4000" b="1" noProof="0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  <a:sym typeface="+mn-ea"/>
            </a:endParaRPr>
          </a:p>
          <a:p>
            <a:pPr marL="457200" marR="0" indent="-457200" algn="just" defTabSz="914400">
              <a:lnSpc>
                <a:spcPct val="90000"/>
              </a:lnSpc>
              <a:spcBef>
                <a:spcPct val="45000"/>
              </a:spcBef>
              <a:buClrTx/>
              <a:buSzTx/>
              <a:defRPr/>
            </a:pPr>
            <a:endParaRPr sz="2000" b="1"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33375" y="1371600"/>
            <a:ext cx="9495155" cy="375094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33375" y="5122545"/>
            <a:ext cx="949579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3" name="文本框 5122"/>
          <p:cNvSpPr txBox="1"/>
          <p:nvPr/>
        </p:nvSpPr>
        <p:spPr>
          <a:xfrm>
            <a:off x="303530" y="631190"/>
            <a:ext cx="11574780" cy="5725795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>
            <a:noAutofit/>
          </a:bodyPr>
          <a:p>
            <a:pPr marL="457200" marR="0" indent="-457200" algn="just" defTabSz="914400">
              <a:lnSpc>
                <a:spcPct val="90000"/>
              </a:lnSpc>
              <a:spcBef>
                <a:spcPct val="45000"/>
              </a:spcBef>
              <a:buClrTx/>
              <a:buSzTx/>
              <a:defRPr/>
            </a:pPr>
            <a:r>
              <a:rPr lang="zh-CN" altLang="en-US" sz="4000" b="1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文法（</a:t>
            </a:r>
            <a:r>
              <a:rPr lang="en-US" altLang="zh-CN" sz="4000" b="1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3</a:t>
            </a:r>
            <a:r>
              <a:rPr lang="zh-CN" altLang="en-US" sz="4000" b="1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）</a:t>
            </a:r>
            <a:endParaRPr lang="zh-CN" altLang="en-US" sz="4000" b="1" noProof="0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  <a:sym typeface="+mn-ea"/>
            </a:endParaRPr>
          </a:p>
          <a:p>
            <a:pPr marL="457200" marR="0" indent="-457200" algn="just" defTabSz="914400">
              <a:lnSpc>
                <a:spcPct val="90000"/>
              </a:lnSpc>
              <a:spcBef>
                <a:spcPct val="45000"/>
              </a:spcBef>
              <a:buClrTx/>
              <a:buSzTx/>
              <a:defRPr/>
            </a:pPr>
            <a:endParaRPr sz="2000" b="1"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016250" y="297815"/>
            <a:ext cx="8773160" cy="31311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016250" y="3429000"/>
            <a:ext cx="8724900" cy="250507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commondata" val="eyJoZGlkIjoiNzg0MDVlMjc4NDRkODViNjgzODE3YjA2ZWU0M2Y1ZDU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1344</Words>
  <Application>WPS 演示</Application>
  <PresentationFormat>宽屏</PresentationFormat>
  <Paragraphs>71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WPS</vt:lpstr>
      <vt:lpstr>PowerPoint 演示文稿</vt:lpstr>
      <vt:lpstr>类型</vt:lpstr>
      <vt:lpstr>类型推断</vt:lpstr>
      <vt:lpstr>测试用例1分析(ERROR)</vt:lpstr>
      <vt:lpstr>测试用例1分析(ERROR)</vt:lpstr>
      <vt:lpstr>测试用例2分析(ERROR)</vt:lpstr>
      <vt:lpstr>测试用例3分析(ERROR)</vt:lpstr>
      <vt:lpstr>测试用例4分析(ERROR)</vt:lpstr>
      <vt:lpstr>测试用例5分析(PASS)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何振峰</dc:creator>
  <cp:lastModifiedBy>何振峰</cp:lastModifiedBy>
  <cp:revision>11</cp:revision>
  <dcterms:created xsi:type="dcterms:W3CDTF">2023-08-09T12:44:00Z</dcterms:created>
  <dcterms:modified xsi:type="dcterms:W3CDTF">2026-05-12T08:32:00Z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2052-12.1.0.15990</vt:lpwstr>
  </property>
</Properties>
</file>